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4" r:id="rId2"/>
    <p:sldId id="265" r:id="rId3"/>
    <p:sldId id="266" r:id="rId4"/>
    <p:sldId id="263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3"/>
  </p:normalViewPr>
  <p:slideViewPr>
    <p:cSldViewPr snapToGrid="0">
      <p:cViewPr varScale="1">
        <p:scale>
          <a:sx n="118" d="100"/>
          <a:sy n="118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C68924-EE50-1409-85F7-8AC551BD9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10/6/26</a:t>
            </a:fld>
            <a:endParaRPr 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87FC7E-A6E6-9D73-728B-41C00F08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BF2F1C-027E-9D82-9582-D7F9C8E4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9521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E33D4D-B6FC-22B4-D752-ADDD314E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500"/>
            <a:ext cx="12480221" cy="695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570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2D84C-F684-9F33-09C8-2DB2601FB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93" y="299256"/>
            <a:ext cx="10062614" cy="625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77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D806D6-9D6D-59AF-45ED-F3471CA61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8728"/>
            <a:ext cx="11684110" cy="652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43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3FF43673-DE10-EB98-AEA6-6217594E3171}"/>
              </a:ext>
            </a:extLst>
          </p:cNvPr>
          <p:cNvSpPr txBox="1">
            <a:spLocks/>
          </p:cNvSpPr>
          <p:nvPr/>
        </p:nvSpPr>
        <p:spPr>
          <a:xfrm>
            <a:off x="55265" y="243831"/>
            <a:ext cx="8358809" cy="114462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b="1" dirty="0"/>
              <a:t>Raw data processing: from short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reads to counts</a:t>
            </a:r>
            <a:endParaRPr kumimoji="1" lang="zh-CN" altLang="en-US" sz="32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00A103B-3557-2785-763A-BF2834DA031C}"/>
              </a:ext>
            </a:extLst>
          </p:cNvPr>
          <p:cNvGrpSpPr/>
          <p:nvPr/>
        </p:nvGrpSpPr>
        <p:grpSpPr>
          <a:xfrm>
            <a:off x="827709" y="3373292"/>
            <a:ext cx="441048" cy="419493"/>
            <a:chOff x="5550341" y="5016836"/>
            <a:chExt cx="545659" cy="518991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5E25E04-93FE-D76A-AEBE-CE4E205DBBC8}"/>
                </a:ext>
              </a:extLst>
            </p:cNvPr>
            <p:cNvSpPr/>
            <p:nvPr/>
          </p:nvSpPr>
          <p:spPr>
            <a:xfrm>
              <a:off x="5550341" y="5016836"/>
              <a:ext cx="545659" cy="518991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86A2B1C-C841-2D6D-C8C3-AF86FB64B4DC}"/>
                </a:ext>
              </a:extLst>
            </p:cNvPr>
            <p:cNvSpPr/>
            <p:nvPr/>
          </p:nvSpPr>
          <p:spPr>
            <a:xfrm>
              <a:off x="5763433" y="5151761"/>
              <a:ext cx="142321" cy="12457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48B44A8-8F62-4138-AF4B-D0568FBD9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996" y="1982838"/>
            <a:ext cx="3492500" cy="32004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CA399DC-B515-58CF-E9C6-88DA398810E5}"/>
              </a:ext>
            </a:extLst>
          </p:cNvPr>
          <p:cNvSpPr txBox="1"/>
          <p:nvPr/>
        </p:nvSpPr>
        <p:spPr>
          <a:xfrm>
            <a:off x="498390" y="3986974"/>
            <a:ext cx="111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/>
              <a:t>One cell</a:t>
            </a:r>
            <a:endParaRPr kumimoji="1" lang="zh-CN" altLang="en-US" sz="2000" b="1" dirty="0"/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608648FA-1553-EDE1-98FB-A86A9E76A372}"/>
              </a:ext>
            </a:extLst>
          </p:cNvPr>
          <p:cNvSpPr/>
          <p:nvPr/>
        </p:nvSpPr>
        <p:spPr>
          <a:xfrm>
            <a:off x="1615708" y="3453292"/>
            <a:ext cx="1376336" cy="25949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2A1C36-2AB4-AA36-23AB-043ADC0E8B87}"/>
              </a:ext>
            </a:extLst>
          </p:cNvPr>
          <p:cNvSpPr txBox="1"/>
          <p:nvPr/>
        </p:nvSpPr>
        <p:spPr>
          <a:xfrm>
            <a:off x="1408734" y="2466687"/>
            <a:ext cx="17902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AU" altLang="zh-CN" sz="2000" b="1" dirty="0"/>
              <a:t>Sequence all RNA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in</a:t>
            </a:r>
            <a:r>
              <a:rPr kumimoji="1" lang="zh-CN" altLang="en-US" sz="2000" b="1" dirty="0"/>
              <a:t> </a:t>
            </a:r>
            <a:endParaRPr kumimoji="1" lang="en-AU" altLang="zh-CN" sz="2000" b="1" dirty="0"/>
          </a:p>
          <a:p>
            <a:pPr algn="ctr"/>
            <a:r>
              <a:rPr kumimoji="1" lang="en-US" altLang="zh-CN" sz="2000" b="1" dirty="0"/>
              <a:t>this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cell</a:t>
            </a:r>
            <a:endParaRPr kumimoji="1" lang="zh-CN" altLang="en-US" sz="2000" b="1" dirty="0"/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B736651C-65EB-D407-BB73-94CD37D9D141}"/>
              </a:ext>
            </a:extLst>
          </p:cNvPr>
          <p:cNvSpPr/>
          <p:nvPr/>
        </p:nvSpPr>
        <p:spPr>
          <a:xfrm>
            <a:off x="6831496" y="3453292"/>
            <a:ext cx="1376336" cy="25949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784A388E-0883-4D93-966A-CC340790BC11}"/>
              </a:ext>
            </a:extLst>
          </p:cNvPr>
          <p:cNvGraphicFramePr>
            <a:graphicFrameLocks noGrp="1"/>
          </p:cNvGraphicFramePr>
          <p:nvPr/>
        </p:nvGraphicFramePr>
        <p:xfrm>
          <a:off x="8743160" y="2762360"/>
          <a:ext cx="2876742" cy="1641356"/>
        </p:xfrm>
        <a:graphic>
          <a:graphicData uri="http://schemas.openxmlformats.org/drawingml/2006/table">
            <a:tbl>
              <a:tblPr firstRow="1" bandRow="1">
                <a:solidFill>
                  <a:srgbClr val="FF0000"/>
                </a:solidFill>
                <a:tableStyleId>{073A0DAA-6AF3-43AB-8588-CEC1D06C72B9}</a:tableStyleId>
              </a:tblPr>
              <a:tblGrid>
                <a:gridCol w="1507420">
                  <a:extLst>
                    <a:ext uri="{9D8B030D-6E8A-4147-A177-3AD203B41FA5}">
                      <a16:colId xmlns:a16="http://schemas.microsoft.com/office/drawing/2014/main" val="1839791749"/>
                    </a:ext>
                  </a:extLst>
                </a:gridCol>
                <a:gridCol w="1369322">
                  <a:extLst>
                    <a:ext uri="{9D8B030D-6E8A-4147-A177-3AD203B41FA5}">
                      <a16:colId xmlns:a16="http://schemas.microsoft.com/office/drawing/2014/main" val="3006644855"/>
                    </a:ext>
                  </a:extLst>
                </a:gridCol>
              </a:tblGrid>
              <a:tr h="411749">
                <a:tc>
                  <a:txBody>
                    <a:bodyPr/>
                    <a:lstStyle/>
                    <a:p>
                      <a:r>
                        <a:rPr lang="en-AU" altLang="zh-CN" dirty="0"/>
                        <a:t>Gene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altLang="zh-CN" dirty="0"/>
                        <a:t>Count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676862"/>
                  </a:ext>
                </a:extLst>
              </a:tr>
              <a:tr h="411749">
                <a:tc>
                  <a:txBody>
                    <a:bodyPr/>
                    <a:lstStyle/>
                    <a:p>
                      <a:r>
                        <a:rPr lang="en-AU" altLang="zh-CN" b="1" dirty="0"/>
                        <a:t>Gene X</a:t>
                      </a:r>
                      <a:endParaRPr lang="zh-CN" altLang="en-US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altLang="zh-CN" b="1" dirty="0"/>
                        <a:t>3</a:t>
                      </a:r>
                      <a:endParaRPr lang="zh-CN" altLang="en-US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798840"/>
                  </a:ext>
                </a:extLst>
              </a:tr>
              <a:tr h="411749">
                <a:tc>
                  <a:txBody>
                    <a:bodyPr/>
                    <a:lstStyle/>
                    <a:p>
                      <a:r>
                        <a:rPr lang="en-AU" altLang="zh-CN" b="1" dirty="0"/>
                        <a:t>Gene Y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altLang="zh-CN" b="1" dirty="0"/>
                        <a:t>3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45721"/>
                  </a:ext>
                </a:extLst>
              </a:tr>
              <a:tr h="406109">
                <a:tc>
                  <a:txBody>
                    <a:bodyPr/>
                    <a:lstStyle/>
                    <a:p>
                      <a:r>
                        <a:rPr lang="en-AU" altLang="zh-CN" b="1" dirty="0"/>
                        <a:t>Gene Z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altLang="zh-CN" b="1" dirty="0"/>
                        <a:t>2</a:t>
                      </a:r>
                      <a:endParaRPr lang="zh-CN" altLang="en-US" b="1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907256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733472F4-93B1-446E-D7E5-2A801209EA92}"/>
              </a:ext>
            </a:extLst>
          </p:cNvPr>
          <p:cNvSpPr txBox="1"/>
          <p:nvPr/>
        </p:nvSpPr>
        <p:spPr>
          <a:xfrm>
            <a:off x="6624521" y="2517031"/>
            <a:ext cx="17902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AU" altLang="zh-CN" sz="2000" b="1" dirty="0"/>
              <a:t>Count the number of copies</a:t>
            </a:r>
            <a:endParaRPr kumimoji="1" lang="zh-CN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813EB-8BC4-5807-93A7-23BF84A68FE7}"/>
              </a:ext>
            </a:extLst>
          </p:cNvPr>
          <p:cNvSpPr txBox="1"/>
          <p:nvPr/>
        </p:nvSpPr>
        <p:spPr>
          <a:xfrm>
            <a:off x="-1" y="6488668"/>
            <a:ext cx="8647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information:</a:t>
            </a:r>
            <a:r>
              <a:rPr lang="zh-CN" altLang="en-US" dirty="0"/>
              <a:t> </a:t>
            </a: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hbctraining</a:t>
            </a:r>
            <a:r>
              <a:rPr lang="en-US" dirty="0"/>
              <a:t>/</a:t>
            </a:r>
            <a:r>
              <a:rPr lang="en-US" dirty="0" err="1"/>
              <a:t>DGE_workshop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192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165643FC-31E9-4668-8593-86F391009A54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6"/>
                </a:solidFill>
                <a:latin typeface="Arial"/>
                <a:ea typeface="Arial"/>
                <a:cs typeface="Arial"/>
              </a:rPr>
              <a:t>Different sequences can give the same count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589C084-6631-4CD5-8F47-BA2F8066161A}"/>
              </a:ext>
            </a:extLst>
          </p:cNvPr>
          <p:cNvSpPr>
            <a:spLocks noGrp="1"/>
          </p:cNvSpPr>
          <p:nvPr/>
        </p:nvSpPr>
        <p:spPr>
          <a:xfrm>
            <a:off x="609600" y="11525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5367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1"/>
                </a:solidFill>
                <a:latin typeface="Arial"/>
                <a:ea typeface="Arial"/>
                <a:cs typeface="Arial"/>
              </a:rPr>
              <a:t>Two cells, one gene, different sequence composition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E127E045-E676-4A4B-AFD8-DCFEF39F1CAF}"/>
              </a:ext>
            </a:extLst>
          </p:cNvPr>
          <p:cNvSpPr>
            <a:spLocks noGrp="1"/>
          </p:cNvSpPr>
          <p:nvPr/>
        </p:nvSpPr>
        <p:spPr>
          <a:xfrm>
            <a:off x="790575" y="1628775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36"/>
                </a:solidFill>
                <a:latin typeface="Arial"/>
                <a:ea typeface="Arial"/>
                <a:cs typeface="Arial"/>
              </a:rPr>
              <a:t>Reference fragment: ACGTTGCA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970C818C-39AE-4609-AF46-8DEC0629A36F}"/>
              </a:ext>
            </a:extLst>
          </p:cNvPr>
          <p:cNvSpPr>
            <a:spLocks noGrp="1"/>
          </p:cNvSpPr>
          <p:nvPr/>
        </p:nvSpPr>
        <p:spPr>
          <a:xfrm>
            <a:off x="6334125" y="1628775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82458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2458F"/>
                </a:solidFill>
                <a:latin typeface="Arial"/>
                <a:ea typeface="Arial"/>
                <a:cs typeface="Arial"/>
              </a:rPr>
              <a:t>Alternative fragment: ACATTGCA</a:t>
            </a:r>
          </a:p>
        </p:txBody>
      </p:sp>
      <p:graphicFrame>
        <p:nvGraphicFramePr>
          <p:cNvPr id="14" name="Table 13"/>
          <p:cNvGraphicFramePr/>
          <p:nvPr/>
        </p:nvGraphicFramePr>
        <p:xfrm>
          <a:off x="790575" y="2305050"/>
          <a:ext cx="10610850" cy="2162175"/>
        </p:xfrm>
        <a:graphic>
          <a:graphicData uri="http://schemas.openxmlformats.org/drawingml/2006/table">
            <a:tbl>
              <a:tblPr/>
              <a:tblGrid>
                <a:gridCol w="232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7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Cell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Alternative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Gene X total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C1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126F7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E7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82458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4EB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126F7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E7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body-3">
            <a:extLst>
              <a:ext uri="{FF2B5EF4-FFF2-40B4-BE49-F238E27FC236}">
                <a16:creationId xmlns:a16="http://schemas.microsoft.com/office/drawing/2014/main" id="{E33C46B6-1BF3-481A-992D-2A167FB5AFE8}"/>
              </a:ext>
            </a:extLst>
          </p:cNvPr>
          <p:cNvSpPr>
            <a:spLocks noGrp="1"/>
          </p:cNvSpPr>
          <p:nvPr/>
        </p:nvSpPr>
        <p:spPr>
          <a:xfrm>
            <a:off x="790575" y="4972050"/>
            <a:ext cx="106108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126F7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6F75"/>
                </a:solidFill>
                <a:latin typeface="Arial"/>
                <a:ea typeface="Arial"/>
                <a:cs typeface="Arial"/>
              </a:rPr>
              <a:t>C1 and C2 both report Gene X = 3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B2673F1B-6BA9-4202-91E7-031B3E24D83D}"/>
              </a:ext>
            </a:extLst>
          </p:cNvPr>
          <p:cNvSpPr>
            <a:spLocks noGrp="1"/>
          </p:cNvSpPr>
          <p:nvPr/>
        </p:nvSpPr>
        <p:spPr>
          <a:xfrm>
            <a:off x="790575" y="5534025"/>
            <a:ext cx="106108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B36"/>
                </a:solidFill>
                <a:latin typeface="Arial"/>
                <a:ea typeface="Arial"/>
                <a:cs typeface="Arial"/>
              </a:rPr>
              <a:t>The matrix cannot recover the original 3:0 and 1:2 split.</a:t>
            </a:r>
          </a:p>
        </p:txBody>
      </p:sp>
    </p:spTree>
    <p:extLst>
      <p:ext uri="{BB962C8B-B14F-4D97-AF65-F5344CB8AC3E}">
        <p14:creationId xmlns:p14="http://schemas.microsoft.com/office/powerpoint/2010/main" val="502264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6E17692B-6D20-4421-9645-465BDDAC82C0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6"/>
                </a:solidFill>
                <a:latin typeface="Arial"/>
                <a:ea typeface="Arial"/>
                <a:cs typeface="Arial"/>
              </a:rPr>
              <a:t>What is lost in a gene-count matrix?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949426E-15E2-4844-8E4E-64876A10454A}"/>
              </a:ext>
            </a:extLst>
          </p:cNvPr>
          <p:cNvSpPr>
            <a:spLocks noGrp="1"/>
          </p:cNvSpPr>
          <p:nvPr/>
        </p:nvSpPr>
        <p:spPr>
          <a:xfrm>
            <a:off x="609600" y="11525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5367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1"/>
                </a:solidFill>
                <a:latin typeface="Arial"/>
                <a:ea typeface="Arial"/>
                <a:cs typeface="Arial"/>
              </a:rPr>
              <a:t>Gene totals hide which sequences contributed to the count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647700" y="1657350"/>
          <a:ext cx="10896600" cy="3257550"/>
        </p:xfrm>
        <a:graphic>
          <a:graphicData uri="http://schemas.openxmlformats.org/drawingml/2006/table">
            <a:tbl>
              <a:tblPr/>
              <a:tblGrid>
                <a:gridCol w="44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Sequence detail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hidden by gene totals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Base identity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Which reference or alternative allele?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Exons and junctions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Which splice form or circular junction?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Transcript ends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Which 3′ UTR or poly(A) site?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Sequences outside the feature set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Which virus, microbe, vector or novel RNA?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body-1">
            <a:extLst>
              <a:ext uri="{FF2B5EF4-FFF2-40B4-BE49-F238E27FC236}">
                <a16:creationId xmlns:a16="http://schemas.microsoft.com/office/drawing/2014/main" id="{6941AF7D-28FB-491D-A77A-074AC09DC5EE}"/>
              </a:ext>
            </a:extLst>
          </p:cNvPr>
          <p:cNvSpPr>
            <a:spLocks noGrp="1"/>
          </p:cNvSpPr>
          <p:nvPr/>
        </p:nvSpPr>
        <p:spPr>
          <a:xfrm>
            <a:off x="647700" y="5248275"/>
            <a:ext cx="108966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26F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6F75"/>
                </a:solidFill>
                <a:latin typeface="Arial"/>
                <a:ea typeface="Arial"/>
                <a:cs typeface="Arial"/>
              </a:rPr>
              <a:t>The matrix retains abundance per annotated gene and cell.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ADA044FA-93B7-4CC4-A445-CB614A68355A}"/>
              </a:ext>
            </a:extLst>
          </p:cNvPr>
          <p:cNvSpPr>
            <a:spLocks noGrp="1"/>
          </p:cNvSpPr>
          <p:nvPr/>
        </p:nvSpPr>
        <p:spPr>
          <a:xfrm>
            <a:off x="647700" y="5724525"/>
            <a:ext cx="108966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6"/>
                </a:solidFill>
                <a:latin typeface="Arial"/>
                <a:ea typeface="Arial"/>
                <a:cs typeface="Arial"/>
              </a:rPr>
              <a:t>Retained reads or BAM files can still contain the missing evidence.</a:t>
            </a:r>
          </a:p>
        </p:txBody>
      </p:sp>
    </p:spTree>
    <p:extLst>
      <p:ext uri="{BB962C8B-B14F-4D97-AF65-F5344CB8AC3E}">
        <p14:creationId xmlns:p14="http://schemas.microsoft.com/office/powerpoint/2010/main" val="1818460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89EC82A9-C760-4396-8DEF-E0475BE66420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lang="en-AU" sz="3600" b="1" dirty="0">
                <a:solidFill>
                  <a:srgbClr val="152B36"/>
                </a:solidFill>
                <a:latin typeface="Arial"/>
                <a:ea typeface="Arial"/>
                <a:cs typeface="Arial"/>
              </a:rPr>
              <a:t>Malva changes the stored representation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3C7E3E9-3DC1-44CF-BAB7-92D0BB1101B1}"/>
              </a:ext>
            </a:extLst>
          </p:cNvPr>
          <p:cNvSpPr>
            <a:spLocks noGrp="1"/>
          </p:cNvSpPr>
          <p:nvPr/>
        </p:nvSpPr>
        <p:spPr>
          <a:xfrm>
            <a:off x="609600" y="11525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536771"/>
                </a:solidFill>
                <a:latin typeface="Arial"/>
                <a:ea typeface="Arial"/>
                <a:cs typeface="Arial"/>
              </a:defRPr>
            </a:pPr>
            <a:r>
              <a:rPr lang="en-AU" sz="1800" b="0" dirty="0">
                <a:solidFill>
                  <a:srgbClr val="536771"/>
                </a:solidFill>
                <a:latin typeface="Arial"/>
                <a:ea typeface="Arial"/>
                <a:cs typeface="Arial"/>
              </a:rPr>
              <a:t>The same sequencing data support different questions</a:t>
            </a:r>
          </a:p>
        </p:txBody>
      </p:sp>
      <p:graphicFrame>
        <p:nvGraphicFramePr>
          <p:cNvPr id="10" name="Table 9"/>
          <p:cNvGraphicFramePr/>
          <p:nvPr>
            <p:extLst>
              <p:ext uri="{D42A27DB-BD31-4B8C-83A1-F6EECF244321}">
                <p14:modId xmlns:p14="http://schemas.microsoft.com/office/powerpoint/2010/main" val="3434065530"/>
              </p:ext>
            </p:extLst>
          </p:nvPr>
        </p:nvGraphicFramePr>
        <p:xfrm>
          <a:off x="609600" y="1666875"/>
          <a:ext cx="10972800" cy="3238500"/>
        </p:xfrm>
        <a:graphic>
          <a:graphicData uri="http://schemas.openxmlformats.org/drawingml/2006/table">
            <a:tbl>
              <a:tblPr/>
              <a:tblGrid>
                <a:gridCol w="184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AU" sz="1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Gene-count workflow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Malva sequence workflow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AU" sz="1800" b="0" dirty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800" b="0" dirty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RNA reads, barcode and UMI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800" b="0" dirty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The same sequencing data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AU" sz="1800" b="0" dirty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Processing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800" b="0" dirty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Reference alignment</a:t>
                      </a:r>
                    </a:p>
                    <a:p>
                      <a:pPr algn="l"/>
                      <a:r>
                        <a:rPr lang="en-AU" sz="1800" b="0" dirty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Gene assignment and UMI collapsing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800" b="0" dirty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Sample k-</a:t>
                      </a:r>
                      <a:r>
                        <a:rPr lang="en-AU" sz="1800" b="0" dirty="0" err="1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mers</a:t>
                      </a:r>
                      <a:endParaRPr lang="en-AU" sz="1800" b="0" dirty="0">
                        <a:solidFill>
                          <a:srgbClr val="152B36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/>
                      <a:r>
                        <a:rPr lang="en-AU" sz="1800" b="0" dirty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Store their cell associations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AU" sz="1800" b="0" dirty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Stored result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800" b="0" dirty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Cell × gene UMI counts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800" b="0" dirty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Sequence-to-cell index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AU" sz="1800" b="0" dirty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800" b="0" dirty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How much of gene X?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800" b="0" dirty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Which cells contain sequence Q?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body-1">
            <a:extLst>
              <a:ext uri="{FF2B5EF4-FFF2-40B4-BE49-F238E27FC236}">
                <a16:creationId xmlns:a16="http://schemas.microsoft.com/office/drawing/2014/main" id="{29D07C7C-1202-4AFB-8AC4-0A62228A362A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26F75"/>
                </a:solidFill>
                <a:latin typeface="Arial"/>
                <a:ea typeface="Arial"/>
                <a:cs typeface="Arial"/>
              </a:defRPr>
            </a:pPr>
            <a:r>
              <a:rPr lang="en-AU" sz="2025" b="1" dirty="0">
                <a:solidFill>
                  <a:srgbClr val="126F75"/>
                </a:solidFill>
                <a:latin typeface="Arial"/>
                <a:ea typeface="Arial"/>
                <a:cs typeface="Arial"/>
              </a:rPr>
              <a:t>For sequence queries, Malva bypasses reference-based gene quantification.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185C6F37-B758-4F0F-824C-4D45D0230EE7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lang="en-AU" sz="1650" b="0" dirty="0">
                <a:solidFill>
                  <a:srgbClr val="152B36"/>
                </a:solidFill>
                <a:latin typeface="Arial"/>
                <a:ea typeface="Arial"/>
                <a:cs typeface="Arial"/>
              </a:rPr>
              <a:t>Gene counts remain useful. A Malva index is not a lossless FASTQ archive.</a:t>
            </a:r>
          </a:p>
        </p:txBody>
      </p:sp>
    </p:spTree>
    <p:extLst>
      <p:ext uri="{BB962C8B-B14F-4D97-AF65-F5344CB8AC3E}">
        <p14:creationId xmlns:p14="http://schemas.microsoft.com/office/powerpoint/2010/main" val="508029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41DD0143-ED60-46C8-BD71-3AB667742612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6"/>
                </a:solidFill>
                <a:latin typeface="Arial"/>
                <a:ea typeface="Arial"/>
                <a:cs typeface="Arial"/>
              </a:rPr>
              <a:t>Building a sequence-to-cell index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F3EAA5E-820C-4824-8989-D6D0A660F3DC}"/>
              </a:ext>
            </a:extLst>
          </p:cNvPr>
          <p:cNvSpPr>
            <a:spLocks noGrp="1"/>
          </p:cNvSpPr>
          <p:nvPr/>
        </p:nvSpPr>
        <p:spPr>
          <a:xfrm>
            <a:off x="609600" y="11525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5367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1"/>
                </a:solidFill>
                <a:latin typeface="Arial"/>
                <a:ea typeface="Arial"/>
                <a:cs typeface="Arial"/>
              </a:rPr>
              <a:t>A small worked example using k = 4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F21301C8-5D9D-49B6-A4FB-D5C96CA25558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B36"/>
                </a:solidFill>
                <a:latin typeface="Arial"/>
                <a:ea typeface="Arial"/>
                <a:cs typeface="Arial"/>
              </a:rPr>
              <a:t>Distinct read types and their cells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B5728DC9-77EE-4757-92CB-D3E25A561A2D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491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B36"/>
                </a:solidFill>
                <a:latin typeface="Arial"/>
                <a:ea typeface="Arial"/>
                <a:cs typeface="Arial"/>
              </a:rPr>
              <a:t>Stored k-mer / cell associations</a:t>
            </a:r>
          </a:p>
        </p:txBody>
      </p:sp>
      <p:graphicFrame>
        <p:nvGraphicFramePr>
          <p:cNvPr id="15" name="Table 14"/>
          <p:cNvGraphicFramePr/>
          <p:nvPr/>
        </p:nvGraphicFramePr>
        <p:xfrm>
          <a:off x="609600" y="2238375"/>
          <a:ext cx="5143500" cy="249555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888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Cell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Read split into 4-mers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C1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ACGT  TGCA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ACGT  TGCA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82458F"/>
                          </a:solidFill>
                          <a:latin typeface="Arial"/>
                          <a:ea typeface="Arial"/>
                          <a:cs typeface="Arial"/>
                        </a:rPr>
                        <a:t>ACAT  TGCA</a:t>
                      </a:r>
                    </a:p>
                  </a:txBody>
                  <a:tcPr anchor="ctr">
                    <a:solidFill>
                      <a:srgbClr val="F4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/>
          <p:nvPr/>
        </p:nvGraphicFramePr>
        <p:xfrm>
          <a:off x="6667500" y="2238375"/>
          <a:ext cx="4914900" cy="2495552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888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4-mer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Cells containing it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ACGT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C1, C2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82458F"/>
                          </a:solidFill>
                          <a:latin typeface="Arial"/>
                          <a:ea typeface="Arial"/>
                          <a:cs typeface="Arial"/>
                        </a:rPr>
                        <a:t>ACAT</a:t>
                      </a:r>
                    </a:p>
                  </a:txBody>
                  <a:tcPr anchor="ctr">
                    <a:solidFill>
                      <a:srgbClr val="F4EB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82458F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anchor="ctr">
                    <a:solidFill>
                      <a:srgbClr val="F4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TGCA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C1, C2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body-4">
            <a:extLst>
              <a:ext uri="{FF2B5EF4-FFF2-40B4-BE49-F238E27FC236}">
                <a16:creationId xmlns:a16="http://schemas.microsoft.com/office/drawing/2014/main" id="{C7FE63B5-F8DA-4D45-9D2C-B517477167A4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26F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6F75"/>
                </a:solidFill>
                <a:latin typeface="Arial"/>
                <a:ea typeface="Arial"/>
                <a:cs typeface="Arial"/>
              </a:rPr>
              <a:t>The barcode preserves cell identity without a reference genome.</a:t>
            </a:r>
          </a:p>
        </p:txBody>
      </p:sp>
      <p:sp>
        <p:nvSpPr>
          <p:cNvPr id="8" name="body-5">
            <a:extLst>
              <a:ext uri="{FF2B5EF4-FFF2-40B4-BE49-F238E27FC236}">
                <a16:creationId xmlns:a16="http://schemas.microsoft.com/office/drawing/2014/main" id="{F6154E6A-095F-4792-B8BE-E8EC1F48E3B9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6"/>
                </a:solidFill>
                <a:latin typeface="Arial"/>
                <a:ea typeface="Arial"/>
                <a:cs typeface="Arial"/>
              </a:rPr>
              <a:t>Repeated associations do not become molecule counts in this index.</a:t>
            </a:r>
          </a:p>
        </p:txBody>
      </p:sp>
    </p:spTree>
    <p:extLst>
      <p:ext uri="{BB962C8B-B14F-4D97-AF65-F5344CB8AC3E}">
        <p14:creationId xmlns:p14="http://schemas.microsoft.com/office/powerpoint/2010/main" val="927271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FFC433BD-A493-4CBC-9CEB-89587038BB77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6"/>
                </a:solidFill>
                <a:latin typeface="Arial"/>
                <a:ea typeface="Arial"/>
                <a:cs typeface="Arial"/>
              </a:rPr>
              <a:t>Querying the sequence retrieves cell C2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D3C4B66-88B0-4225-830D-51C02A2976CC}"/>
              </a:ext>
            </a:extLst>
          </p:cNvPr>
          <p:cNvSpPr>
            <a:spLocks noGrp="1"/>
          </p:cNvSpPr>
          <p:nvPr/>
        </p:nvSpPr>
        <p:spPr>
          <a:xfrm>
            <a:off x="609600" y="11525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5367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1"/>
                </a:solidFill>
                <a:latin typeface="Arial"/>
                <a:ea typeface="Arial"/>
                <a:cs typeface="Arial"/>
              </a:rPr>
              <a:t>The alternative fragment distinguishes cells with identical gene totals</a:t>
            </a:r>
          </a:p>
        </p:txBody>
      </p:sp>
      <p:sp>
        <p:nvSpPr>
          <p:cNvPr id="3" name="body-0">
            <a:extLst>
              <a:ext uri="{FF2B5EF4-FFF2-40B4-BE49-F238E27FC236}">
                <a16:creationId xmlns:a16="http://schemas.microsoft.com/office/drawing/2014/main" id="{CE39F700-135C-4177-A053-3721C4BE4B0D}"/>
              </a:ext>
            </a:extLst>
          </p:cNvPr>
          <p:cNvSpPr>
            <a:spLocks noGrp="1"/>
          </p:cNvSpPr>
          <p:nvPr/>
        </p:nvSpPr>
        <p:spPr>
          <a:xfrm>
            <a:off x="666750" y="1724025"/>
            <a:ext cx="2857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53677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771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DC9C2900-B5B7-4573-9EDB-AC223F5908EA}"/>
              </a:ext>
            </a:extLst>
          </p:cNvPr>
          <p:cNvSpPr>
            <a:spLocks noGrp="1"/>
          </p:cNvSpPr>
          <p:nvPr/>
        </p:nvSpPr>
        <p:spPr>
          <a:xfrm>
            <a:off x="666750" y="2162175"/>
            <a:ext cx="31432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800" b="1">
                <a:solidFill>
                  <a:srgbClr val="82458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82458F"/>
                </a:solidFill>
                <a:latin typeface="Arial"/>
                <a:ea typeface="Arial"/>
                <a:cs typeface="Arial"/>
              </a:rPr>
              <a:t>ACAT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D0197583-5ED2-4015-BD63-5108B0B6B085}"/>
              </a:ext>
            </a:extLst>
          </p:cNvPr>
          <p:cNvSpPr>
            <a:spLocks noGrp="1"/>
          </p:cNvSpPr>
          <p:nvPr/>
        </p:nvSpPr>
        <p:spPr>
          <a:xfrm>
            <a:off x="666750" y="3048000"/>
            <a:ext cx="32861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6"/>
                </a:solidFill>
                <a:latin typeface="Arial"/>
                <a:ea typeface="Arial"/>
                <a:cs typeface="Arial"/>
              </a:rPr>
              <a:t>Alternative sequence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3ACD967C-FBB6-483B-ADE5-A0467F0882FD}"/>
              </a:ext>
            </a:extLst>
          </p:cNvPr>
          <p:cNvSpPr>
            <a:spLocks noGrp="1"/>
          </p:cNvSpPr>
          <p:nvPr/>
        </p:nvSpPr>
        <p:spPr>
          <a:xfrm>
            <a:off x="4686300" y="1724025"/>
            <a:ext cx="3429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53677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771"/>
                </a:solidFill>
                <a:latin typeface="Arial"/>
                <a:ea typeface="Arial"/>
                <a:cs typeface="Arial"/>
              </a:rPr>
              <a:t>INDEX ENTRY</a:t>
            </a:r>
          </a:p>
        </p:txBody>
      </p:sp>
      <p:graphicFrame>
        <p:nvGraphicFramePr>
          <p:cNvPr id="22" name="Table 21"/>
          <p:cNvGraphicFramePr/>
          <p:nvPr/>
        </p:nvGraphicFramePr>
        <p:xfrm>
          <a:off x="4686300" y="2266950"/>
          <a:ext cx="3162300" cy="123825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4-mer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Cells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82458F"/>
                          </a:solidFill>
                          <a:latin typeface="Arial"/>
                          <a:ea typeface="Arial"/>
                          <a:cs typeface="Arial"/>
                        </a:rPr>
                        <a:t>ACAT</a:t>
                      </a:r>
                    </a:p>
                  </a:txBody>
                  <a:tcPr anchor="ctr">
                    <a:solidFill>
                      <a:srgbClr val="F4EB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82458F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anchor="ctr">
                    <a:solidFill>
                      <a:srgbClr val="F4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body-5">
            <a:extLst>
              <a:ext uri="{FF2B5EF4-FFF2-40B4-BE49-F238E27FC236}">
                <a16:creationId xmlns:a16="http://schemas.microsoft.com/office/drawing/2014/main" id="{2BCC9F26-3139-45C3-98CF-B51F57CF12DA}"/>
              </a:ext>
            </a:extLst>
          </p:cNvPr>
          <p:cNvSpPr>
            <a:spLocks noGrp="1"/>
          </p:cNvSpPr>
          <p:nvPr/>
        </p:nvSpPr>
        <p:spPr>
          <a:xfrm>
            <a:off x="8677275" y="1724025"/>
            <a:ext cx="2905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53677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771"/>
                </a:solidFill>
                <a:latin typeface="Arial"/>
                <a:ea typeface="Arial"/>
                <a:cs typeface="Arial"/>
              </a:rPr>
              <a:t>MATCHED CELL</a:t>
            </a:r>
          </a:p>
        </p:txBody>
      </p:sp>
      <p:sp>
        <p:nvSpPr>
          <p:cNvPr id="9" name="body-6">
            <a:extLst>
              <a:ext uri="{FF2B5EF4-FFF2-40B4-BE49-F238E27FC236}">
                <a16:creationId xmlns:a16="http://schemas.microsoft.com/office/drawing/2014/main" id="{CCE596BA-2D6B-4EF4-8E9A-A4D3C287BAF2}"/>
              </a:ext>
            </a:extLst>
          </p:cNvPr>
          <p:cNvSpPr>
            <a:spLocks noGrp="1"/>
          </p:cNvSpPr>
          <p:nvPr/>
        </p:nvSpPr>
        <p:spPr>
          <a:xfrm>
            <a:off x="8677275" y="2162175"/>
            <a:ext cx="290512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800" b="1">
                <a:solidFill>
                  <a:srgbClr val="126F7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26F75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10" name="body-7">
            <a:extLst>
              <a:ext uri="{FF2B5EF4-FFF2-40B4-BE49-F238E27FC236}">
                <a16:creationId xmlns:a16="http://schemas.microsoft.com/office/drawing/2014/main" id="{36A19126-5511-46F1-8FD6-35832C590AE6}"/>
              </a:ext>
            </a:extLst>
          </p:cNvPr>
          <p:cNvSpPr>
            <a:spLocks noGrp="1"/>
          </p:cNvSpPr>
          <p:nvPr/>
        </p:nvSpPr>
        <p:spPr>
          <a:xfrm>
            <a:off x="8677275" y="3048000"/>
            <a:ext cx="29051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6"/>
                </a:solidFill>
                <a:latin typeface="Arial"/>
                <a:ea typeface="Arial"/>
                <a:cs typeface="Arial"/>
              </a:rPr>
              <a:t>Plus sample and</a:t>
            </a:r>
          </a:p>
          <a:p>
            <a:pPr algn="l">
              <a:defRPr sz="1875" b="0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36"/>
                </a:solidFill>
                <a:latin typeface="Arial"/>
                <a:ea typeface="Arial"/>
                <a:cs typeface="Arial"/>
              </a:rPr>
              <a:t>cell metadata</a:t>
            </a:r>
          </a:p>
        </p:txBody>
      </p:sp>
      <p:sp>
        <p:nvSpPr>
          <p:cNvPr id="11" name="body-8">
            <a:extLst>
              <a:ext uri="{FF2B5EF4-FFF2-40B4-BE49-F238E27FC236}">
                <a16:creationId xmlns:a16="http://schemas.microsoft.com/office/drawing/2014/main" id="{6D7401DD-5B8E-4E00-B56E-EC551FB56A5E}"/>
              </a:ext>
            </a:extLst>
          </p:cNvPr>
          <p:cNvSpPr>
            <a:spLocks noGrp="1"/>
          </p:cNvSpPr>
          <p:nvPr/>
        </p:nvSpPr>
        <p:spPr>
          <a:xfrm>
            <a:off x="666750" y="42386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B36"/>
                </a:solidFill>
                <a:latin typeface="Arial"/>
                <a:ea typeface="Arial"/>
                <a:cs typeface="Arial"/>
              </a:rPr>
              <a:t>Exact k-mer lookups identify matching cells.</a:t>
            </a:r>
          </a:p>
        </p:txBody>
      </p:sp>
      <p:sp>
        <p:nvSpPr>
          <p:cNvPr id="12" name="body-9">
            <a:extLst>
              <a:ext uri="{FF2B5EF4-FFF2-40B4-BE49-F238E27FC236}">
                <a16:creationId xmlns:a16="http://schemas.microsoft.com/office/drawing/2014/main" id="{909B5938-5DEB-42B6-A255-D70199C4AC4D}"/>
              </a:ext>
            </a:extLst>
          </p:cNvPr>
          <p:cNvSpPr>
            <a:spLocks noGrp="1"/>
          </p:cNvSpPr>
          <p:nvPr/>
        </p:nvSpPr>
        <p:spPr>
          <a:xfrm>
            <a:off x="666750" y="4781550"/>
            <a:ext cx="10858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B36"/>
                </a:solidFill>
                <a:latin typeface="Arial"/>
                <a:ea typeface="Arial"/>
                <a:cs typeface="Arial"/>
              </a:rPr>
              <a:t>Longer probes use sliding windows and match thresholds.</a:t>
            </a:r>
          </a:p>
        </p:txBody>
      </p:sp>
      <p:sp>
        <p:nvSpPr>
          <p:cNvPr id="13" name="body-10">
            <a:extLst>
              <a:ext uri="{FF2B5EF4-FFF2-40B4-BE49-F238E27FC236}">
                <a16:creationId xmlns:a16="http://schemas.microsoft.com/office/drawing/2014/main" id="{6FD8EF88-CBD8-49B2-8227-3BF42C07BDEB}"/>
              </a:ext>
            </a:extLst>
          </p:cNvPr>
          <p:cNvSpPr>
            <a:spLocks noGrp="1"/>
          </p:cNvSpPr>
          <p:nvPr/>
        </p:nvSpPr>
        <p:spPr>
          <a:xfrm>
            <a:off x="666750" y="549592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26F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6F75"/>
                </a:solidFill>
                <a:latin typeface="Arial"/>
                <a:ea typeface="Arial"/>
                <a:cs typeface="Arial"/>
              </a:rPr>
              <a:t>Queries read relevant index blocks instead of rescanning FASTQ.</a:t>
            </a:r>
          </a:p>
        </p:txBody>
      </p:sp>
    </p:spTree>
    <p:extLst>
      <p:ext uri="{BB962C8B-B14F-4D97-AF65-F5344CB8AC3E}">
        <p14:creationId xmlns:p14="http://schemas.microsoft.com/office/powerpoint/2010/main" val="777763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E5524799-5655-4921-B6F2-551E22FC9FD0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6"/>
                </a:solidFill>
                <a:latin typeface="Arial"/>
                <a:ea typeface="Arial"/>
                <a:cs typeface="Arial"/>
              </a:rPr>
              <a:t>Sequence queries produce task-specific outputs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2981096-6F3E-43EC-917F-8F71DBFD524F}"/>
              </a:ext>
            </a:extLst>
          </p:cNvPr>
          <p:cNvSpPr>
            <a:spLocks noGrp="1"/>
          </p:cNvSpPr>
          <p:nvPr/>
        </p:nvSpPr>
        <p:spPr>
          <a:xfrm>
            <a:off x="609600" y="11525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5367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1"/>
                </a:solidFill>
                <a:latin typeface="Arial"/>
                <a:ea typeface="Arial"/>
                <a:cs typeface="Arial"/>
              </a:rPr>
              <a:t>Choose the feature after indexing the reads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609600" y="1657350"/>
          <a:ext cx="10972800" cy="2562224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55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Query or feature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Typical use</a:t>
                      </a:r>
                    </a:p>
                  </a:txBody>
                  <a:tcPr anchor="ctr">
                    <a:solidFill>
                      <a:srgbClr val="152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55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Known gene sequence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Cell × gene pseudocounts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Expression exploration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55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Allele, junction or UTR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Matched cells and sequence signal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Sequence-specific questions</a:t>
                      </a:r>
                    </a:p>
                  </a:txBody>
                  <a:tcPr anchor="ctr">
                    <a:solidFill>
                      <a:srgbClr val="F8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55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K-mer composition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Cell × bucket features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B36"/>
                          </a:solidFill>
                          <a:latin typeface="Arial"/>
                          <a:ea typeface="Arial"/>
                          <a:cs typeface="Arial"/>
                        </a:rPr>
                        <a:t>Cell neighbours and clusters</a:t>
                      </a:r>
                    </a:p>
                  </a:txBody>
                  <a:tcPr anchor="ctr"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body-1">
            <a:extLst>
              <a:ext uri="{FF2B5EF4-FFF2-40B4-BE49-F238E27FC236}">
                <a16:creationId xmlns:a16="http://schemas.microsoft.com/office/drawing/2014/main" id="{CDF89670-BC86-4002-A0DA-796BD71EC178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26F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6F75"/>
                </a:solidFill>
                <a:latin typeface="Arial"/>
                <a:ea typeface="Arial"/>
                <a:cs typeface="Arial"/>
              </a:rPr>
              <a:t>Pseudocounts summarize sequence matches, not UMI molecule counts.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1FAE1B39-CBCB-4A38-A155-91B2BBADE1C0}"/>
              </a:ext>
            </a:extLst>
          </p:cNvPr>
          <p:cNvSpPr>
            <a:spLocks noGrp="1"/>
          </p:cNvSpPr>
          <p:nvPr/>
        </p:nvSpPr>
        <p:spPr>
          <a:xfrm>
            <a:off x="609600" y="52101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6"/>
                </a:solidFill>
                <a:latin typeface="Arial"/>
                <a:ea typeface="Arial"/>
                <a:cs typeface="Arial"/>
              </a:rPr>
              <a:t>Gene names and biological interpretation may still use references.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57358735-C800-44B7-B55C-4EF71D09C655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52B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36"/>
                </a:solidFill>
                <a:latin typeface="Arial"/>
                <a:ea typeface="Arial"/>
                <a:cs typeface="Arial"/>
              </a:rPr>
              <a:t>A missing hit can reflect limited RNA capture or coverage.</a:t>
            </a:r>
          </a:p>
        </p:txBody>
      </p:sp>
    </p:spTree>
    <p:extLst>
      <p:ext uri="{BB962C8B-B14F-4D97-AF65-F5344CB8AC3E}">
        <p14:creationId xmlns:p14="http://schemas.microsoft.com/office/powerpoint/2010/main" val="15955390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Microsoft Macintosh PowerPoint</Application>
  <DocSecurity>0</DocSecurity>
  <PresentationFormat>Widescreen</PresentationFormat>
  <Paragraphs>123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Xiaochen Zhang</cp:lastModifiedBy>
  <cp:revision>1</cp:revision>
  <dcterms:created xsi:type="dcterms:W3CDTF">2026-10-06T12:20:26Z</dcterms:created>
  <dcterms:modified xsi:type="dcterms:W3CDTF">2026-10-06T23:52:01Z</dcterms:modified>
</cp:coreProperties>
</file>